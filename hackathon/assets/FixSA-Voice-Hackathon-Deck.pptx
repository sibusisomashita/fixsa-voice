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39ff83f08c45ee" /><Relationship Type="http://schemas.openxmlformats.org/officeDocument/2006/relationships/extended-properties" Target="/docProps/app.xml" Id="R2f6ccfed8fa94f20" /><Relationship Type="http://schemas.openxmlformats.org/officeDocument/2006/relationships/officeDocument" Target="/ppt/presentation.xml" Id="Rd939c0934c054a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cb5d348a4e4078"/>
  </p:sldMasterIdLst>
  <p:notesMasterIdLst>
    <p:notesMasterId xmlns:r="http://schemas.openxmlformats.org/officeDocument/2006/relationships" r:id="Re02549155fcd412d"/>
  </p:notesMasterIdLst>
  <p:sldIdLst>
    <p:sldId xmlns:r="http://schemas.openxmlformats.org/officeDocument/2006/relationships" id="256" r:id="R1f68b9c526af46cb"/>
    <p:sldId xmlns:r="http://schemas.openxmlformats.org/officeDocument/2006/relationships" id="257" r:id="R59803bda5b7f4edb"/>
    <p:sldId xmlns:r="http://schemas.openxmlformats.org/officeDocument/2006/relationships" id="258" r:id="R4e63d76c17b04578"/>
    <p:sldId xmlns:r="http://schemas.openxmlformats.org/officeDocument/2006/relationships" id="259" r:id="R681839d0a490429f"/>
    <p:sldId xmlns:r="http://schemas.openxmlformats.org/officeDocument/2006/relationships" id="260" r:id="R91285976edec4b1b"/>
    <p:sldId xmlns:r="http://schemas.openxmlformats.org/officeDocument/2006/relationships" id="261" r:id="Rfd4fb13bcc634879"/>
    <p:sldId xmlns:r="http://schemas.openxmlformats.org/officeDocument/2006/relationships" id="262" r:id="R0f6b993ff0254e69"/>
    <p:sldId xmlns:r="http://schemas.openxmlformats.org/officeDocument/2006/relationships" id="263" r:id="Ra78e27ce3e874422"/>
    <p:sldId xmlns:r="http://schemas.openxmlformats.org/officeDocument/2006/relationships" id="264" r:id="R68a34aa93c244181"/>
    <p:sldId xmlns:r="http://schemas.openxmlformats.org/officeDocument/2006/relationships" id="265" r:id="R4d11ddb517fb425f"/>
    <p:sldId xmlns:r="http://schemas.openxmlformats.org/officeDocument/2006/relationships" id="266" r:id="Rbbd185d738b14cdb"/>
    <p:sldId xmlns:r="http://schemas.openxmlformats.org/officeDocument/2006/relationships" id="267" r:id="Ra8240c7797064a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44b8ceaa394f54" /><Relationship Type="http://schemas.openxmlformats.org/officeDocument/2006/relationships/slideMaster" Target="/ppt/slideMasters/slideMaster1.xml" Id="Rb2cb5d348a4e4078" /><Relationship Type="http://schemas.openxmlformats.org/officeDocument/2006/relationships/notesMaster" Target="/ppt/notesMasters/notesMaster1.xml" Id="Re02549155fcd412d" /><Relationship Type="http://schemas.openxmlformats.org/officeDocument/2006/relationships/presProps" Target="/ppt/presProps.xml" Id="R246765c654844964" /><Relationship Type="http://schemas.openxmlformats.org/officeDocument/2006/relationships/tableStyles" Target="/ppt/tableStyles.xml" Id="R6db6ccbd28ce46d8" /><Relationship Type="http://schemas.openxmlformats.org/officeDocument/2006/relationships/slide" Target="/ppt/slides/slide1.xml" Id="R1f68b9c526af46cb" /><Relationship Type="http://schemas.openxmlformats.org/officeDocument/2006/relationships/slide" Target="/ppt/slides/slide2.xml" Id="R59803bda5b7f4edb" /><Relationship Type="http://schemas.openxmlformats.org/officeDocument/2006/relationships/slide" Target="/ppt/slides/slide3.xml" Id="R4e63d76c17b04578" /><Relationship Type="http://schemas.openxmlformats.org/officeDocument/2006/relationships/slide" Target="/ppt/slides/slide4.xml" Id="R681839d0a490429f" /><Relationship Type="http://schemas.openxmlformats.org/officeDocument/2006/relationships/slide" Target="/ppt/slides/slide5.xml" Id="R91285976edec4b1b" /><Relationship Type="http://schemas.openxmlformats.org/officeDocument/2006/relationships/slide" Target="/ppt/slides/slide6.xml" Id="Rfd4fb13bcc634879" /><Relationship Type="http://schemas.openxmlformats.org/officeDocument/2006/relationships/slide" Target="/ppt/slides/slide7.xml" Id="R0f6b993ff0254e69" /><Relationship Type="http://schemas.openxmlformats.org/officeDocument/2006/relationships/slide" Target="/ppt/slides/slide8.xml" Id="Ra78e27ce3e874422" /><Relationship Type="http://schemas.openxmlformats.org/officeDocument/2006/relationships/slide" Target="/ppt/slides/slide9.xml" Id="R68a34aa93c244181" /><Relationship Type="http://schemas.openxmlformats.org/officeDocument/2006/relationships/slide" Target="/ppt/slides/slide10.xml" Id="R4d11ddb517fb425f" /><Relationship Type="http://schemas.openxmlformats.org/officeDocument/2006/relationships/slide" Target="/ppt/slides/slide11.xml" Id="Rbbd185d738b14cdb" /><Relationship Type="http://schemas.openxmlformats.org/officeDocument/2006/relationships/slide" Target="/ppt/slides/slide12.xml" Id="Ra8240c7797064a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cd891810a2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93b252e5634a0f" /><Relationship Type="http://schemas.openxmlformats.org/officeDocument/2006/relationships/notesMaster" Target="/ppt/notesMasters/notesMaster1.xml" Id="R05c74c182d0c46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758461d0a64972" /><Relationship Type="http://schemas.openxmlformats.org/officeDocument/2006/relationships/notesMaster" Target="/ppt/notesMasters/notesMaster1.xml" Id="Rababa5763d7145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2e629e2d744a7" /><Relationship Type="http://schemas.openxmlformats.org/officeDocument/2006/relationships/notesMaster" Target="/ppt/notesMasters/notesMaster1.xml" Id="Raa567f7a8d9242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c59d5876b44b61" /><Relationship Type="http://schemas.openxmlformats.org/officeDocument/2006/relationships/notesMaster" Target="/ppt/notesMasters/notesMaster1.xml" Id="Rb5ef805ecde049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3f085c61044a2e" /><Relationship Type="http://schemas.openxmlformats.org/officeDocument/2006/relationships/notesMaster" Target="/ppt/notesMasters/notesMaster1.xml" Id="Re940a41a052843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1c9549ec8e4209" /><Relationship Type="http://schemas.openxmlformats.org/officeDocument/2006/relationships/notesMaster" Target="/ppt/notesMasters/notesMaster1.xml" Id="R1ae56ca524954c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ecf7e5577d4fe6" /><Relationship Type="http://schemas.openxmlformats.org/officeDocument/2006/relationships/notesMaster" Target="/ppt/notesMasters/notesMaster1.xml" Id="R71742f74e37248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51fc83b84c4d37" /><Relationship Type="http://schemas.openxmlformats.org/officeDocument/2006/relationships/notesMaster" Target="/ppt/notesMasters/notesMaster1.xml" Id="R5ea8b55f70dc4a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27be89583843e1" /><Relationship Type="http://schemas.openxmlformats.org/officeDocument/2006/relationships/notesMaster" Target="/ppt/notesMasters/notesMaster1.xml" Id="R871b8e1314fb40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4fe02298e54de7" /><Relationship Type="http://schemas.openxmlformats.org/officeDocument/2006/relationships/notesMaster" Target="/ppt/notesMasters/notesMaster1.xml" Id="Reefdbad07aa646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85e8c833bb4d5b" /><Relationship Type="http://schemas.openxmlformats.org/officeDocument/2006/relationships/notesMaster" Target="/ppt/notesMasters/notesMaster1.xml" Id="Rd7b47ef6316d4c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4bdaaea0c146ec" /><Relationship Type="http://schemas.openxmlformats.org/officeDocument/2006/relationships/notesMaster" Target="/ppt/notesMasters/notesMaster1.xml" Id="Rca49389aed584f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FixSA Voice hackathon deck. Product and visual assets by VALO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FixSA Voice deployment captured 18 September 2026 at https://fixsa.valosystems.co.za/.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hosted deterministic voice journey captured at https://fixsa.valosystems.co.za/report?scenario=water.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AssemblyAI sources: https://www.assemblyai.com/docs/voice-agents/voice-agent-api/browser-integration and https://www.assemblyai.com/docs/voice-agents/voice-agent-api/tools/client-side-tools. Hosted application capture from the FixSA Voice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 names match the implemented FixSA Voice agent contract in src/lib/voice-agent-config.ts.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hosted Proof of Fix journey for synthetic reference FSA-2026-1811.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hosted electricity danger scenario. The page contains synthetic data and no emergency-service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hosted synthetic operations dashboard. The interface is a judge preview; production operator endpoints require Sanctum authentication.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repository docs/architecture.md and docs/database-design.md. Deployment health: https://api.fixsa.valosystems.co.za/api/v1/health.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preserves the product boundary described in README.md and the hosted demo banner. All displayed operational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evidence: docs/final-verification.md. Latest local verification: 24 Vitest tests, 13 Laravel tests with 70 assertions, and 40 Playwright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application: https://fixsa.valosystems.co.za. Public repository: https://github.com/SibusisoMashita/fixsa-voice.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6c29e26de43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823a09b1964620" /><Relationship Type="http://schemas.openxmlformats.org/officeDocument/2006/relationships/slideLayout" Target="/ppt/slideLayouts/slideLayout1.xml" Id="R5b48aea7b91846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48aea7b91846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aeaaf59e4470b" /><Relationship Type="http://schemas.openxmlformats.org/officeDocument/2006/relationships/image" Target="/ppt/media/image.png" Id="Rc66e1d21c16c45d5" /><Relationship Type="http://schemas.openxmlformats.org/officeDocument/2006/relationships/image" Target="/ppt/media/image.svg" Id="R70e030946def4425" /><Relationship Type="http://schemas.openxmlformats.org/officeDocument/2006/relationships/image" Target="/ppt/media/image2.png" Id="R5620d85c47674d9c" /><Relationship Type="http://schemas.openxmlformats.org/officeDocument/2006/relationships/notesSlide" Target="/ppt/notesSlides/notesSlide1.xml" Id="R84f19abc1e2344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92f89598b4682" /><Relationship Type="http://schemas.openxmlformats.org/officeDocument/2006/relationships/image" Target="/ppt/media/image3.png" Id="R845848c80e894be4" /><Relationship Type="http://schemas.openxmlformats.org/officeDocument/2006/relationships/notesSlide" Target="/ppt/notesSlides/notesSlide2.xml" Id="R00a353b42968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0992e5da74220" /><Relationship Type="http://schemas.openxmlformats.org/officeDocument/2006/relationships/image" Target="/ppt/media/image4.png" Id="R8648b5911e4848e0" /><Relationship Type="http://schemas.openxmlformats.org/officeDocument/2006/relationships/notesSlide" Target="/ppt/notesSlides/notesSlide3.xml" Id="R498f3db1d0d649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3df538f7347d3" /><Relationship Type="http://schemas.openxmlformats.org/officeDocument/2006/relationships/image" Target="/ppt/media/image5.png" Id="R09bb91c3c5f04ba3" /><Relationship Type="http://schemas.openxmlformats.org/officeDocument/2006/relationships/notesSlide" Target="/ppt/notesSlides/notesSlide4.xml" Id="R633eb6f90af645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869bcebea43f7" /><Relationship Type="http://schemas.openxmlformats.org/officeDocument/2006/relationships/notesSlide" Target="/ppt/notesSlides/notesSlide5.xml" Id="R3824e4ea270b44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1711065aa4aea" /><Relationship Type="http://schemas.openxmlformats.org/officeDocument/2006/relationships/image" Target="/ppt/media/image6.png" Id="Rf0238ebbc2224908" /><Relationship Type="http://schemas.openxmlformats.org/officeDocument/2006/relationships/notesSlide" Target="/ppt/notesSlides/notesSlide6.xml" Id="R9e94db3b9dc643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7ded8a48d409e" /><Relationship Type="http://schemas.openxmlformats.org/officeDocument/2006/relationships/image" Target="/ppt/media/image7.png" Id="Rc286266f652f4538" /><Relationship Type="http://schemas.openxmlformats.org/officeDocument/2006/relationships/notesSlide" Target="/ppt/notesSlides/notesSlide7.xml" Id="Re41dea133f4043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be452b15d4275" /><Relationship Type="http://schemas.openxmlformats.org/officeDocument/2006/relationships/image" Target="/ppt/media/image8.png" Id="R1db1e65df1954356" /><Relationship Type="http://schemas.openxmlformats.org/officeDocument/2006/relationships/notesSlide" Target="/ppt/notesSlides/notesSlide8.xml" Id="R07273af41c9244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eb12071b84f03" /><Relationship Type="http://schemas.openxmlformats.org/officeDocument/2006/relationships/image" Target="/ppt/media/image9.png" Id="R17354f4cbc704d82" /><Relationship Type="http://schemas.openxmlformats.org/officeDocument/2006/relationships/notesSlide" Target="/ppt/notesSlides/notesSlide9.xml" Id="Rd67ec171b1a743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a97f65a3f48d9" /><Relationship Type="http://schemas.openxmlformats.org/officeDocument/2006/relationships/image" Target="/ppt/media/image10.png" Id="Rf30e04a22c374744" /><Relationship Type="http://schemas.openxmlformats.org/officeDocument/2006/relationships/notesSlide" Target="/ppt/notesSlides/notesSlide10.xml" Id="R321e9c445bbd47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79e371e134794" /><Relationship Type="http://schemas.openxmlformats.org/officeDocument/2006/relationships/notesSlide" Target="/ppt/notesSlides/notesSlide11.xml" Id="Rae38a88d16884f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9cebe72084067" /><Relationship Type="http://schemas.openxmlformats.org/officeDocument/2006/relationships/image" Target="/ppt/media/image11.png" Id="R9b862dc777734a91" /><Relationship Type="http://schemas.openxmlformats.org/officeDocument/2006/relationships/notesSlide" Target="/ppt/notesSlides/notesSlide12.xml" Id="Rdac4a218509e4f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B4A8D-6302-4539-8A47-E4AD1CA9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0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e1d21c16c45d5">
            <a:extLst>
              <a:ext uri="{96DAC541-7B7A-43D3-8B79-37D633B846F1}">
                <asvg:svgBlip xmlns:asvg="http://schemas.microsoft.com/office/drawing/2016/SVG/main" r:embed="R70e030946def44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7620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695A4-32FA-438D-A88E-828A0764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7FBF8"/>
                </a:solidFill>
                <a:latin typeface="Arial"/>
                <a:ea typeface="Arial"/>
                <a:cs typeface="Arial"/>
              </a:rPr>
              <a:t>FixSA Voice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433B2-AA03-4E51-9113-55A3CA22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847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9FF4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D9FF4A"/>
                </a:solidFill>
                <a:latin typeface="Arial"/>
                <a:ea typeface="Arial"/>
                <a:cs typeface="Arial"/>
              </a:rPr>
              <a:t>Speak. Track. Prove.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48763-AB4A-4068-8671-16C2FCFD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9C2B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9C2B9"/>
                </a:solidFill>
                <a:latin typeface="Arial"/>
                <a:ea typeface="Arial"/>
                <a:cs typeface="Arial"/>
              </a:rPr>
              <a:t>A voice-first civic issue reporting agent with resident-verified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1A5F6-2839-4505-A59D-FCBAC3A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C2B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2B9"/>
                </a:solidFill>
                <a:latin typeface="Arial"/>
                <a:ea typeface="Arial"/>
                <a:cs typeface="Arial"/>
              </a:rPr>
              <a:t>ASSEMBLYAI VOICE AGENT HACKATHON   /   VALO SYSTEMS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0d85c47674d9c"/>
          <a:srcRect xmlns:a="http://schemas.openxmlformats.org/drawingml/2006/main" l="34650" t="0" r="346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685800"/>
            <a:ext cx="2952750" cy="541020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</p:spTree>
    <p:extLst>
      <p:ext uri="{BB962C8B-B14F-4D97-AF65-F5344CB8AC3E}">
        <p14:creationId xmlns:p14="http://schemas.microsoft.com/office/powerpoint/2010/main" val="992702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B8CA4-FD24-4E74-A2C4-AE49272B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67"/>
                </a:solidFill>
                <a:latin typeface="Arial"/>
                <a:ea typeface="Arial"/>
                <a:cs typeface="Arial"/>
              </a:rPr>
              <a:t>FIXSA VOICE 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F7668-6901-4F13-BA69-0E19C54A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Residents tell stories. Service systems expect fields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D6A96-3205-48CA-9071-92C21B67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05C5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05C53"/>
                </a:solidFill>
                <a:latin typeface="Arial"/>
                <a:ea typeface="Arial"/>
                <a:cs typeface="Arial"/>
              </a:rPr>
              <a:t>Forms push the translation burden onto the person reporting the problem. Missing context and duplicate reports slow triage, while status remains opaque.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A7876-874A-47EE-91AB-A99099D6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FixSA listens first, then structures only what the workflow needs.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848c80e894be4"/>
          <a:srcRect xmlns:a="http://schemas.openxmlformats.org/drawingml/2006/main" l="0" t="34648" r="0" b="346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781050"/>
            <a:ext cx="5219700" cy="5391150"/>
          </a:xfrm>
          <a:prstGeom xmlns:a="http://schemas.openxmlformats.org/drawingml/2006/main" prst="roundRect">
            <a:avLst>
              <a:gd name="adj" fmla="val 2190"/>
            </a:avLst>
          </a:prstGeom>
        </p:spPr>
      </p:pic>
    </p:spTree>
    <p:extLst>
      <p:ext uri="{BB962C8B-B14F-4D97-AF65-F5344CB8AC3E}">
        <p14:creationId xmlns:p14="http://schemas.microsoft.com/office/powerpoint/2010/main" val="1868482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2D351-3D2D-4FCD-9526-85E9E02E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67"/>
                </a:solidFill>
                <a:latin typeface="Arial"/>
                <a:ea typeface="Arial"/>
                <a:cs typeface="Arial"/>
              </a:rPr>
              <a:t>FIXSA VOICE 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76FD8-B3CD-49FC-A8B0-8B1B4D00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One conversation becomes a trackable work order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8b5911e4848e0"/>
          <a:srcRect xmlns:a="http://schemas.openxmlformats.org/drawingml/2006/main" l="1299" t="0" r="12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6858000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9B0CD-DE5C-4209-8BCC-F5B54404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Speak naturally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55E79-941E-4F17-A014-CC79E40F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64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45B"/>
                </a:solidFill>
                <a:latin typeface="Arial"/>
                <a:ea typeface="Arial"/>
                <a:cs typeface="Arial"/>
              </a:rPr>
              <a:t>FixSA collects the missing location, duration and hazard detail during the conversation.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BE68E-99E6-4906-B8E0-BDD439B1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Review before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2F8F9-4F08-4C94-933B-6A2D6727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64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45B"/>
                </a:solidFill>
                <a:latin typeface="Arial"/>
                <a:ea typeface="Arial"/>
                <a:cs typeface="Arial"/>
              </a:rPr>
              <a:t>The resident sees the structured record and confirms the complete read-back before creation or merge.</a:t>
            </a:r>
          </a:p>
        </p:txBody>
      </p:sp>
    </p:spTree>
    <p:extLst>
      <p:ext uri="{BB962C8B-B14F-4D97-AF65-F5344CB8AC3E}">
        <p14:creationId xmlns:p14="http://schemas.microsoft.com/office/powerpoint/2010/main" val="1515978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18D9E-FEBE-4794-BF58-2B5C8540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C2B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2B9"/>
                </a:solidFill>
                <a:latin typeface="Arial"/>
                <a:ea typeface="Arial"/>
                <a:cs typeface="Arial"/>
              </a:rPr>
              <a:t>FIXSA VOICE 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C5601-EDA7-46CD-A8B8-38F552EA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BF8"/>
                </a:solidFill>
                <a:latin typeface="Arial"/>
                <a:ea typeface="Arial"/>
                <a:cs typeface="Arial"/>
              </a:rPr>
              <a:t>AssemblyAI is the interaction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F7609-3182-4AFC-B29E-5DAA5B6E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200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9C2B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9C2B9"/>
                </a:solidFill>
                <a:latin typeface="Arial"/>
                <a:ea typeface="Arial"/>
                <a:cs typeface="Arial"/>
              </a:rPr>
              <a:t>Realtime transcript events keep the conversation visible. Spoken replies handle turn-taking. JSON-schema tool calls move validated data into the civic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29E66-FEAD-490B-97F0-4BF14DC7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FF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FF4A"/>
                </a:solidFill>
                <a:latin typeface="Arial"/>
                <a:ea typeface="Arial"/>
                <a:cs typeface="Arial"/>
              </a:rPr>
              <a:t>The permanent key never reaches the 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4556F-04AB-4356-BBDD-28F20FD7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10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B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BF8"/>
                </a:solidFill>
                <a:latin typeface="Arial"/>
                <a:ea typeface="Arial"/>
                <a:cs typeface="Arial"/>
              </a:rPr>
              <a:t>Laravel exchanges the server-only credential for a short-lived Voice Agent token. The browser receives only the temporary session token.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b91c3c5f04ba3"/>
          <a:srcRect xmlns:a="http://schemas.openxmlformats.org/drawingml/2006/main" l="15193" t="0" r="151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371600"/>
            <a:ext cx="5219700" cy="468630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</p:spTree>
    <p:extLst>
      <p:ext uri="{BB962C8B-B14F-4D97-AF65-F5344CB8AC3E}">
        <p14:creationId xmlns:p14="http://schemas.microsoft.com/office/powerpoint/2010/main" val="2056760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8BE12-98EA-49F9-8995-BCC22916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67"/>
                </a:solidFill>
                <a:latin typeface="Arial"/>
                <a:ea typeface="Arial"/>
                <a:cs typeface="Arial"/>
              </a:rPr>
              <a:t>FIXSA VOICE 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2B7B4-6641-44C6-8267-1ED931E2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Nine tools share one guarded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17422-424E-4397-A595-AF368290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80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801A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43496-A475-4EEE-9C05-664ED724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classify_service_issue</a:t>
            </a:r>
          </a:p>
          <a:p xmlns:a="http://schemas.openxmlformats.org/drawingml/2006/main">
            <a:pPr algn="l">
              <a:defRPr sz="172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search_nearby_reports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A9A9C-9914-4580-85A8-E88CD25B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28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80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801A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164F0-BE69-46AD-908F-5AA810D4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98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confirm_report_details</a:t>
            </a:r>
          </a:p>
          <a:p xmlns:a="http://schemas.openxmlformats.org/drawingml/2006/main">
            <a:pPr algn="l">
              <a:defRPr sz="172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attach_evidence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AABDC-1E43-4916-AB3D-F152C7B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28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80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801A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7A71B-21AD-4E71-B9E7-2B69BD0D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428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create_service_request</a:t>
            </a:r>
          </a:p>
          <a:p xmlns:a="http://schemas.openxmlformats.org/drawingml/2006/main">
            <a:pPr algn="l">
              <a:defRPr sz="16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merge_with_existing_report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EAF05-7217-4310-827A-D7531AFF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80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801A"/>
                </a:solidFill>
                <a:latin typeface="Arial"/>
                <a:ea typeface="Arial"/>
                <a:cs typeface="Arial"/>
              </a:rPr>
              <a:t>FOLLOW THROUGH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15D50-2974-41FC-82B2-26392819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get_report_status</a:t>
            </a:r>
          </a:p>
          <a:p xmlns:a="http://schemas.openxmlformats.org/drawingml/2006/main">
            <a:pPr algn="l">
              <a:defRPr sz="19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verify_resolution</a:t>
            </a:r>
          </a:p>
          <a:p xmlns:a="http://schemas.openxmlformats.org/drawingml/2006/main">
            <a:pPr algn="l">
              <a:defRPr sz="19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update_report_status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52C28-BA96-4AE1-9C87-88F0AAEC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4767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C20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03B65-449F-4501-8665-ECBBFD97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FF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FF4A"/>
                </a:solidFill>
                <a:latin typeface="Arial"/>
                <a:ea typeface="Arial"/>
                <a:cs typeface="Arial"/>
              </a:rPr>
              <a:t>Create and merge fail closed until the resident confirms the full read-back.</a:t>
            </a:r>
          </a:p>
        </p:txBody>
      </p:sp>
    </p:spTree>
    <p:extLst>
      <p:ext uri="{BB962C8B-B14F-4D97-AF65-F5344CB8AC3E}">
        <p14:creationId xmlns:p14="http://schemas.microsoft.com/office/powerpoint/2010/main" val="100066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8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5EB58-E907-491A-9646-43E2403C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67"/>
                </a:solidFill>
                <a:latin typeface="Arial"/>
                <a:ea typeface="Arial"/>
                <a:cs typeface="Arial"/>
              </a:rPr>
              <a:t>FIXSA VOICE 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EBC08-74ED-4526-AB39-5C299F9D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Proof of Fix closes the accountability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F3D18-CD97-498F-859D-9B36E4A1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6524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65249"/>
                </a:solidFill>
                <a:latin typeface="Arial"/>
                <a:ea typeface="Arial"/>
                <a:cs typeface="Arial"/>
              </a:rPr>
              <a:t>A status change to resolved is only a claim. The resident confirms the repair, reports a partial result, or disputes the closure.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38ebbc2224908"/>
          <a:srcRect xmlns:a="http://schemas.openxmlformats.org/drawingml/2006/main" l="0" t="14000" r="0" b="1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781300"/>
            <a:ext cx="723900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C57BB-14A3-4ADA-8A5C-A40E37C4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Partial or failed work reopens automatically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47FA4-98B8-4226-BB0B-C45E7FC2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958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605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26057"/>
                </a:solidFill>
                <a:latin typeface="Arial"/>
                <a:ea typeface="Arial"/>
                <a:cs typeface="Arial"/>
              </a:rPr>
              <a:t>The public timeline and operator audit both record the resident outcome without retaining audio.</a:t>
            </a:r>
          </a:p>
        </p:txBody>
      </p:sp>
    </p:spTree>
    <p:extLst>
      <p:ext uri="{BB962C8B-B14F-4D97-AF65-F5344CB8AC3E}">
        <p14:creationId xmlns:p14="http://schemas.microsoft.com/office/powerpoint/2010/main" val="1555084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969BC-0031-4B5E-8D68-274B8BB8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67"/>
                </a:solidFill>
                <a:latin typeface="Arial"/>
                <a:ea typeface="Arial"/>
                <a:cs typeface="Arial"/>
              </a:rPr>
              <a:t>FIXSA VOICE 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35D65-A6C5-4754-BFF2-DB15FCF6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Safety and privacy are workflow states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6266f652f4538"/>
          <a:srcRect xmlns:a="http://schemas.openxmlformats.org/drawingml/2006/main" l="2295" t="0" r="22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57350"/>
            <a:ext cx="657225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F9140-3331-42D6-9D35-035535CB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Consent before 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5A908-C795-4CB2-AFDB-7D23592F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863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35A"/>
                </a:solidFill>
                <a:latin typeface="Arial"/>
                <a:ea typeface="Arial"/>
                <a:cs typeface="Arial"/>
              </a:rPr>
              <a:t>Audio stays ephemeral by default. Public views use allowlisted fields and rounded location coordinates.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C43A0-25D6-49E6-9DB2-0C06AD48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40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4040"/>
                </a:solidFill>
                <a:latin typeface="Arial"/>
                <a:ea typeface="Arial"/>
                <a:cs typeface="Arial"/>
              </a:rPr>
              <a:t>Danger stops ordinary automation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101AE-F7E9-439B-920E-6557F718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863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35A"/>
                </a:solidFill>
                <a:latin typeface="Arial"/>
                <a:ea typeface="Arial"/>
                <a:cs typeface="Arial"/>
              </a:rPr>
              <a:t>FixSA tells the resident to move to safety and contact the appropriate official service. It never fabricates an emergency number.</a:t>
            </a:r>
          </a:p>
        </p:txBody>
      </p:sp>
    </p:spTree>
    <p:extLst>
      <p:ext uri="{BB962C8B-B14F-4D97-AF65-F5344CB8AC3E}">
        <p14:creationId xmlns:p14="http://schemas.microsoft.com/office/powerpoint/2010/main" val="1080525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725B5-9A4C-4EF5-8D9B-136020B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67"/>
                </a:solidFill>
                <a:latin typeface="Arial"/>
                <a:ea typeface="Arial"/>
                <a:cs typeface="Arial"/>
              </a:rPr>
              <a:t>FIXSA VOICE 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4A805-FF1D-4C30-A501-4D1F7E8C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One evidence trail serves residents and operations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1e65df1954356"/>
          <a:srcRect xmlns:a="http://schemas.openxmlformats.org/drawingml/2006/main" l="0" t="32098" r="0" b="320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72390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6B37A-4115-4A05-B97B-A0736F1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Residents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85175-F91C-4AA0-89D4-9559A68A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304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Accessible voice and keyboard intake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Clear read-back and explicit consent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Public status and Proof of Fix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DAECB-E6C3-4E35-A85D-A10E54F6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6873C-6D51-46AA-B903-7BFB83CE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Cleaner records, duplicate context and a visible SLA history</a:t>
            </a:r>
          </a:p>
        </p:txBody>
      </p:sp>
    </p:spTree>
    <p:extLst>
      <p:ext uri="{BB962C8B-B14F-4D97-AF65-F5344CB8AC3E}">
        <p14:creationId xmlns:p14="http://schemas.microsoft.com/office/powerpoint/2010/main" val="542840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F4181-5306-4803-B9C9-729E02E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C2B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2B9"/>
                </a:solidFill>
                <a:latin typeface="Arial"/>
                <a:ea typeface="Arial"/>
                <a:cs typeface="Arial"/>
              </a:rPr>
              <a:t>FIXSA VOICE 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087B7-602E-4207-B062-A0FAFAAC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FBF8"/>
                </a:solidFill>
                <a:latin typeface="Arial"/>
                <a:ea typeface="Arial"/>
                <a:cs typeface="Arial"/>
              </a:rPr>
              <a:t>Reliable demo path, production-ready data path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54f4cbc704d82"/>
          <a:srcRect xmlns:a="http://schemas.openxmlformats.org/drawingml/2006/main" l="3729" t="0" r="37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6572250" cy="4438650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F00E1-7696-4E56-A006-C9FD8400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FF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FF4A"/>
                </a:solidFill>
                <a:latin typeface="Arial"/>
                <a:ea typeface="Arial"/>
                <a:cs typeface="Arial"/>
              </a:rPr>
              <a:t>Static Next.js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23ECB-2CDC-4775-A7DD-1BB1055A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B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BF8"/>
                </a:solidFill>
                <a:latin typeface="Arial"/>
                <a:ea typeface="Arial"/>
                <a:cs typeface="Arial"/>
              </a:rPr>
              <a:t>cPanel serves the prebuilt interface over HTTPS.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A0BE0-361C-4A6E-A35C-89FD4B9A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0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FF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FF4A"/>
                </a:solidFill>
                <a:latin typeface="Arial"/>
                <a:ea typeface="Arial"/>
                <a:cs typeface="Arial"/>
              </a:rPr>
              <a:t>Laravel 13 and MariaDB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A273C-68B2-4592-B835-A705C42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5760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B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BF8"/>
                </a:solidFill>
                <a:latin typeface="Arial"/>
                <a:ea typeface="Arial"/>
                <a:cs typeface="Arial"/>
              </a:rPr>
              <a:t>ULIDs, indexed public references, transactions, idempotency and immutable audit events support clean handoff to authorised systems.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38748-80E8-43C1-95D1-B1961C1E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38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FF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FF4A"/>
                </a:solidFill>
                <a:latin typeface="Arial"/>
                <a:ea typeface="Arial"/>
                <a:cs typeface="Arial"/>
              </a:rPr>
              <a:t>Server-only AssemblyAI key</a:t>
            </a:r>
          </a:p>
        </p:txBody>
      </p:sp>
    </p:spTree>
    <p:extLst>
      <p:ext uri="{BB962C8B-B14F-4D97-AF65-F5344CB8AC3E}">
        <p14:creationId xmlns:p14="http://schemas.microsoft.com/office/powerpoint/2010/main" val="19581176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CB9E0-0A98-41D1-AAB8-8E47A65D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67"/>
                </a:solidFill>
                <a:latin typeface="Arial"/>
                <a:ea typeface="Arial"/>
                <a:cs typeface="Arial"/>
              </a:rPr>
              <a:t>FIXSA VOICE 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F2D77-80F2-4027-96B4-1C5FA2F6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What works now, what remains synthetic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e04a22c374744"/>
          <a:srcRect xmlns:a="http://schemas.openxmlformats.org/drawingml/2006/main" l="0" t="41605" r="0" b="41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57350"/>
            <a:ext cx="3333750" cy="44005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96E4C-9A18-49C4-9450-D7F8377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Working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46440-A5C8-4633-84FD-B966EB29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Real AssemblyAI Voice Agent token flow</a:t>
            </a:r>
          </a:p>
          <a:p xmlns:a="http://schemas.openxmlformats.org/drawingml/2006/main">
            <a:pPr algn="l">
              <a:defRPr sz="18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Validated civic tools</a:t>
            </a:r>
          </a:p>
          <a:p xmlns:a="http://schemas.openxmlformats.org/drawingml/2006/main">
            <a:pPr algn="l">
              <a:defRPr sz="18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Laravel and MariaDB persistence</a:t>
            </a:r>
          </a:p>
          <a:p xmlns:a="http://schemas.openxmlformats.org/drawingml/2006/main">
            <a:pPr algn="l">
              <a:defRPr sz="18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Hosted responsive journeys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61C1F-A9D9-4763-BE02-3F60F88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Synthetic by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8CF9A-A959-4F36-9032-5A33AB9B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3143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People, locations and metrics</a:t>
            </a:r>
          </a:p>
          <a:p xmlns:a="http://schemas.openxmlformats.org/drawingml/2006/main">
            <a:pPr algn="l">
              <a:defRPr sz="18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Operator preview actions</a:t>
            </a:r>
          </a:p>
          <a:p xmlns:a="http://schemas.openxmlformats.org/drawingml/2006/main">
            <a:pPr algn="l">
              <a:defRPr sz="1875" b="0">
                <a:solidFill>
                  <a:srgbClr val="4561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158"/>
                </a:solidFill>
                <a:latin typeface="Arial"/>
                <a:ea typeface="Arial"/>
                <a:cs typeface="Arial"/>
              </a:rPr>
              <a:t>Municipal dispatch and integrations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5C089-098B-4108-9816-1429022B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67246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8F4E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BBE29-65A7-4C93-824F-DED21E7E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6115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Next: authorised work-order integration, verified identity, geocoding and evidence-led language expansion.</a:t>
            </a:r>
          </a:p>
        </p:txBody>
      </p:sp>
    </p:spTree>
    <p:extLst>
      <p:ext uri="{BB962C8B-B14F-4D97-AF65-F5344CB8AC3E}">
        <p14:creationId xmlns:p14="http://schemas.microsoft.com/office/powerpoint/2010/main" val="6352690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0EF31-51D8-439E-813D-F38CCC4D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67"/>
                </a:solidFill>
                <a:latin typeface="Arial"/>
                <a:ea typeface="Arial"/>
                <a:cs typeface="Arial"/>
              </a:rPr>
              <a:t>FIXSA VOICE 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8FE81-0A6E-4B3F-A4B5-C4A1F1EB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Judging evidence is visible and testable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F4D4B-C252-4B9F-A71E-7989A917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BEF4F-1A8A-41C4-839A-7FB03CB6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Real Voice Agent token exchange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Nine structured tools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Server-only credential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28954-E69D-4ED2-BA96-D0E173D0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47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Originality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FFA08-C0F8-4D83-A5E9-F0D0FE4C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Explainable deduplication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Resident Proof of Fix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Automatic reopen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2C254-6D47-4C5B-BC0E-7CFCC432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665F9-8250-417A-901A-ABD0BA24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Consent-first voice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Public/private split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Immediate-danger stop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D8309-E86C-4DE3-9BC8-8E7B2D6E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47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20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C201B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BEBC2-E87D-4E7D-A515-36652B44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1676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24 unit tests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13 API tests</a:t>
            </a:r>
          </a:p>
          <a:p xmlns:a="http://schemas.openxmlformats.org/drawingml/2006/main">
            <a:pPr algn="l">
              <a:defRPr sz="1800" b="0">
                <a:solidFill>
                  <a:srgbClr val="435F5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35F56"/>
                </a:solidFill>
                <a:latin typeface="Arial"/>
                <a:ea typeface="Arial"/>
                <a:cs typeface="Arial"/>
              </a:rPr>
              <a:t>40 local browser runs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FF781-F044-4DDF-872D-D57B3ADB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C20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476B6-CFDA-4E36-8B28-37EE928C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10058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FF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FF4A"/>
                </a:solidFill>
                <a:latin typeface="Arial"/>
                <a:ea typeface="Arial"/>
                <a:cs typeface="Arial"/>
              </a:rPr>
              <a:t>Hosted acceptance confirms HTTPS, MariaDB health, CORS, redacted public tracking, 401 operator protection and temporary Voice Agent tokens.</a:t>
            </a:r>
          </a:p>
        </p:txBody>
      </p:sp>
    </p:spTree>
    <p:extLst>
      <p:ext uri="{BB962C8B-B14F-4D97-AF65-F5344CB8AC3E}">
        <p14:creationId xmlns:p14="http://schemas.microsoft.com/office/powerpoint/2010/main" val="10447835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777C6-DBBD-4A1F-922D-6B2C9F19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0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62dc777734a91"/>
          <a:srcRect xmlns:a="http://schemas.openxmlformats.org/drawingml/2006/main" l="34650" t="0" r="346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685800"/>
            <a:ext cx="2952750" cy="541020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2F817-030B-42CC-8DB6-9A85AB8A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42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7FBF8"/>
                </a:solidFill>
                <a:latin typeface="Arial"/>
                <a:ea typeface="Arial"/>
                <a:cs typeface="Arial"/>
              </a:rPr>
              <a:t>Speak. Track.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1392B-A3FA-40AB-978A-E2B4DFCE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FF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FF4A"/>
                </a:solidFill>
                <a:latin typeface="Arial"/>
                <a:ea typeface="Arial"/>
                <a:cs typeface="Arial"/>
              </a:rPr>
              <a:t>Try the resident Proof of Fix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CFF2E-6DEE-4CFC-BA6F-E5685956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752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B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BF8"/>
                </a:solidFill>
                <a:latin typeface="Arial"/>
                <a:ea typeface="Arial"/>
                <a:cs typeface="Arial"/>
              </a:rPr>
              <a:t>fixsa.valosystems.co.za/verify?ref=FSA-2026-1811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346C8-B72F-400B-99C5-B6BD9022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C2B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C2B9"/>
                </a:solidFill>
                <a:latin typeface="Arial"/>
                <a:ea typeface="Arial"/>
                <a:cs typeface="Arial"/>
              </a:rPr>
              <a:t>github.com/SibusisoMashita/fixsa-voice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128E5-5656-40DF-A851-DA68FFB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C2B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C2B9"/>
                </a:solidFill>
                <a:latin typeface="Arial"/>
                <a:ea typeface="Arial"/>
                <a:cs typeface="Arial"/>
              </a:rPr>
              <a:t>A VALO Systems concept   /   Synthetic hackathon data</a:t>
            </a:r>
          </a:p>
        </p:txBody>
      </p:sp>
    </p:spTree>
    <p:extLst>
      <p:ext uri="{BB962C8B-B14F-4D97-AF65-F5344CB8AC3E}">
        <p14:creationId xmlns:p14="http://schemas.microsoft.com/office/powerpoint/2010/main" val="2764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2026-09-18T16:37:20.6220000Z</dcterms:created>
  <dcterms:modified xsi:type="dcterms:W3CDTF">2026-09-18T16:37:20.6220000Z</dcterms:modified>
</coreProperties>
</file>